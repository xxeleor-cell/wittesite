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7" r:id="rId5"/>
    <p:sldId id="258" r:id="rId6"/>
    <p:sldId id="259" r:id="rId7"/>
    <p:sldId id="260" r:id="rId8"/>
    <p:sldId id="263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2A9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9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1.xml"/><Relationship Id="rId7" Type="http://schemas.openxmlformats.org/officeDocument/2006/relationships/image" Target="../media/image15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2.xml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空白演示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3385" y="2442210"/>
            <a:ext cx="11370945" cy="753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300" b="1">
                <a:gradFill>
                  <a:gsLst>
                    <a:gs pos="0">
                      <a:srgbClr val="007BD3"/>
                    </a:gs>
                    <a:gs pos="18000">
                      <a:srgbClr val="0D62A9"/>
                    </a:gs>
                  </a:gsLst>
                  <a:lin ang="5400000" scaled="0"/>
                </a:gradFill>
              </a:rPr>
              <a:t>Pig breeding intelligent hardware products</a:t>
            </a:r>
            <a:endParaRPr lang="zh-CN" altLang="en-US" sz="4300" b="1">
              <a:gradFill>
                <a:gsLst>
                  <a:gs pos="0">
                    <a:srgbClr val="007BD3"/>
                  </a:gs>
                  <a:gs pos="18000">
                    <a:srgbClr val="0D62A9"/>
                  </a:gs>
                </a:gsLst>
                <a:lin ang="5400000" scaled="0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63505" y="5659120"/>
            <a:ext cx="1416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D62A9"/>
                </a:solidFill>
              </a:rPr>
              <a:t>2021.10.23</a:t>
            </a:r>
            <a:endParaRPr lang="zh-CN" altLang="en-US">
              <a:solidFill>
                <a:srgbClr val="0D62A9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52495" y="3662045"/>
            <a:ext cx="529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gradFill>
                  <a:gsLst>
                    <a:gs pos="0">
                      <a:srgbClr val="007BD3"/>
                    </a:gs>
                    <a:gs pos="18000">
                      <a:srgbClr val="007BD3"/>
                    </a:gs>
                    <a:gs pos="13000">
                      <a:srgbClr val="007BD3"/>
                    </a:gs>
                    <a:gs pos="16000">
                      <a:srgbClr val="007BD3"/>
                    </a:gs>
                    <a:gs pos="100000">
                      <a:srgbClr val="0D62A9"/>
                    </a:gs>
                    <a:gs pos="100000">
                      <a:srgbClr val="0D62A9"/>
                    </a:gs>
                    <a:gs pos="35000">
                      <a:srgbClr val="0D62A9"/>
                    </a:gs>
                    <a:gs pos="88000">
                      <a:srgbClr val="0D62A9"/>
                    </a:gs>
                  </a:gsLst>
                  <a:lin ang="5400000" scaled="0"/>
                </a:gradFill>
              </a:rPr>
              <a:t>Qingdao Kechuang Xinda Technology Co., Ltd</a:t>
            </a:r>
            <a:endParaRPr lang="zh-CN" altLang="en-US" b="1">
              <a:gradFill>
                <a:gsLst>
                  <a:gs pos="0">
                    <a:srgbClr val="007BD3"/>
                  </a:gs>
                  <a:gs pos="18000">
                    <a:srgbClr val="007BD3"/>
                  </a:gs>
                  <a:gs pos="13000">
                    <a:srgbClr val="007BD3"/>
                  </a:gs>
                  <a:gs pos="16000">
                    <a:srgbClr val="007BD3"/>
                  </a:gs>
                  <a:gs pos="100000">
                    <a:srgbClr val="0D62A9"/>
                  </a:gs>
                  <a:gs pos="100000">
                    <a:srgbClr val="0D62A9"/>
                  </a:gs>
                  <a:gs pos="35000">
                    <a:srgbClr val="0D62A9"/>
                  </a:gs>
                  <a:gs pos="88000">
                    <a:srgbClr val="0D62A9"/>
                  </a:gs>
                </a:gsLst>
                <a:lin ang="5400000" scaled="0"/>
              </a:gra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057910" y="3420110"/>
            <a:ext cx="10074275" cy="17145"/>
          </a:xfrm>
          <a:prstGeom prst="line">
            <a:avLst/>
          </a:prstGeom>
          <a:ln w="28575" cap="rnd" cmpd="sng">
            <a:gradFill>
              <a:gsLst>
                <a:gs pos="63000">
                  <a:srgbClr val="0D62A9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3070" y="1025525"/>
            <a:ext cx="1133157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>
                <a:gradFill>
                  <a:gsLst>
                    <a:gs pos="0">
                      <a:srgbClr val="007BD3"/>
                    </a:gs>
                    <a:gs pos="18000">
                      <a:srgbClr val="007BD3"/>
                    </a:gs>
                    <a:gs pos="13000">
                      <a:srgbClr val="007BD3"/>
                    </a:gs>
                    <a:gs pos="16000">
                      <a:srgbClr val="007BD3"/>
                    </a:gs>
                    <a:gs pos="100000">
                      <a:srgbClr val="0D62A9"/>
                    </a:gs>
                    <a:gs pos="100000">
                      <a:srgbClr val="0D62A9"/>
                    </a:gs>
                    <a:gs pos="35000">
                      <a:srgbClr val="0D62A9"/>
                    </a:gs>
                    <a:gs pos="88000">
                      <a:srgbClr val="0D62A9"/>
                    </a:gs>
                  </a:gsLst>
                  <a:lin ang="5400000" scaled="0"/>
                </a:gradFill>
              </a:rPr>
              <a:t>Pig product system</a:t>
            </a:r>
            <a:endParaRPr lang="zh-CN" altLang="en-US" sz="2800" b="1">
              <a:gradFill>
                <a:gsLst>
                  <a:gs pos="0">
                    <a:srgbClr val="007BD3"/>
                  </a:gs>
                  <a:gs pos="18000">
                    <a:srgbClr val="007BD3"/>
                  </a:gs>
                  <a:gs pos="13000">
                    <a:srgbClr val="007BD3"/>
                  </a:gs>
                  <a:gs pos="16000">
                    <a:srgbClr val="007BD3"/>
                  </a:gs>
                  <a:gs pos="100000">
                    <a:srgbClr val="0D62A9"/>
                  </a:gs>
                  <a:gs pos="100000">
                    <a:srgbClr val="0D62A9"/>
                  </a:gs>
                  <a:gs pos="35000">
                    <a:srgbClr val="0D62A9"/>
                  </a:gs>
                  <a:gs pos="88000">
                    <a:srgbClr val="0D62A9"/>
                  </a:gs>
                </a:gsLst>
                <a:lin ang="5400000" scaled="0"/>
              </a:gradFill>
            </a:endParaRPr>
          </a:p>
          <a:p>
            <a:pPr algn="ctr"/>
            <a:endParaRPr lang="zh-CN" altLang="en-US" sz="2800" b="1"/>
          </a:p>
          <a:p>
            <a:r>
              <a:rPr lang="zh-CN" altLang="en-US" sz="2400"/>
              <a:t>Super Brain for Pigsty: Climate Controller K16 Pro, K16, K9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Brain for Building Breeding: Climate Controller BC-M1, BC-S1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Alarms &amp; Guards: S1、A1、A2、A3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IoT Modules: Wired gateway, Wireless gateway, XiaoKe-AI-Farm IoT Big Data Platform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Sensors : CO2 Sensor, Temperature Sensor, NH3 Sensor, Humidity Sensor, Static Pressure Sensor</a:t>
            </a:r>
            <a:endParaRPr lang="zh-CN" altLang="en-US" sz="24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80645"/>
            <a:ext cx="12192000" cy="6858000"/>
          </a:xfrm>
          <a:prstGeom prst="rect">
            <a:avLst/>
          </a:prstGeom>
        </p:spPr>
      </p:pic>
      <p:pic>
        <p:nvPicPr>
          <p:cNvPr id="6" name="图片 5" descr="/Users/jone-j/科创信达/4-智能硬件/11-智能硬件--内部/养猪超脑-智能环控器K16 Pro.png养猪超脑-智能环控器K16 Pr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6093" y="853440"/>
            <a:ext cx="2678430" cy="2313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73755" y="1002030"/>
            <a:ext cx="8043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Intelligent environmental controller k16pro</a:t>
            </a:r>
            <a:endParaRPr lang="zh-CN" altLang="en-US" sz="2800" b="1"/>
          </a:p>
        </p:txBody>
      </p:sp>
      <p:sp>
        <p:nvSpPr>
          <p:cNvPr id="8" name="文本框 7"/>
          <p:cNvSpPr txBox="1"/>
          <p:nvPr/>
        </p:nvSpPr>
        <p:spPr>
          <a:xfrm>
            <a:off x="3373755" y="1595120"/>
            <a:ext cx="4126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Pig Super Brain</a:t>
            </a:r>
            <a:endParaRPr lang="zh-CN" altLang="en-US" sz="2400" b="1"/>
          </a:p>
        </p:txBody>
      </p:sp>
      <p:pic>
        <p:nvPicPr>
          <p:cNvPr id="16" name="图片 15" descr="资源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15" y="2218055"/>
            <a:ext cx="419100" cy="419100"/>
          </a:xfrm>
          <a:prstGeom prst="rect">
            <a:avLst/>
          </a:prstGeom>
        </p:spPr>
      </p:pic>
      <p:pic>
        <p:nvPicPr>
          <p:cNvPr id="18" name="图片 17" descr="资源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5145" y="2218055"/>
            <a:ext cx="457835" cy="4191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466465" y="2701925"/>
            <a:ext cx="1289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7-inch touch screen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30750" y="2726690"/>
            <a:ext cx="2059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Refined production data management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254615" y="2726690"/>
            <a:ext cx="16408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Cloud platform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65830" y="2126615"/>
            <a:ext cx="8150225" cy="1060450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资源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780" y="2235835"/>
            <a:ext cx="419100" cy="419100"/>
          </a:xfrm>
          <a:prstGeom prst="rect">
            <a:avLst/>
          </a:prstGeom>
        </p:spPr>
      </p:pic>
      <p:pic>
        <p:nvPicPr>
          <p:cNvPr id="12" name="图片 11" descr="资源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790" y="2218055"/>
            <a:ext cx="403225" cy="4191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796405" y="2737485"/>
            <a:ext cx="22021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Multisensor fusion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04580" y="2737485"/>
            <a:ext cx="14706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Fine control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15" name="图片 14" descr="资源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645" y="2235835"/>
            <a:ext cx="419100" cy="41910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485775" y="3695065"/>
            <a:ext cx="11129645" cy="223202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05485" y="3838575"/>
            <a:ext cx="1068959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Main technical parameters</a:t>
            </a:r>
            <a:endParaRPr lang="zh-CN" altLang="en-US" sz="2400" b="1"/>
          </a:p>
          <a:p>
            <a:r>
              <a:rPr lang="zh-CN" altLang="en-US" sz="1600"/>
              <a:t>Input voltage: AC85 ~ 305V, 50 / 60Hz;</a:t>
            </a:r>
            <a:endParaRPr lang="zh-CN" altLang="en-US" sz="1600"/>
          </a:p>
          <a:p>
            <a:r>
              <a:rPr lang="zh-CN" altLang="en-US" sz="1600"/>
              <a:t>Rated power: ＜ 15W;</a:t>
            </a:r>
            <a:endParaRPr lang="zh-CN" altLang="en-US" sz="1600"/>
          </a:p>
          <a:p>
            <a:r>
              <a:rPr lang="zh-CN" altLang="en-US" sz="1600"/>
              <a:t>Application range: 0 ~ 50 ℃ (32 ° f ~ 122 ° f), which is only suitable for installation in indoor locations without direct sunlight;</a:t>
            </a:r>
            <a:endParaRPr lang="zh-CN" altLang="en-US" sz="1600"/>
          </a:p>
          <a:p>
            <a:r>
              <a:rPr lang="zh-CN" altLang="en-US" sz="1600"/>
              <a:t>Overall dimension: 350 * 250 * 130mm;</a:t>
            </a:r>
            <a:endParaRPr lang="zh-CN" altLang="en-US" sz="1600"/>
          </a:p>
          <a:p>
            <a:r>
              <a:rPr lang="zh-CN" altLang="en-US" sz="1600"/>
              <a:t>Display accuracy: 0.1 ℃;</a:t>
            </a:r>
            <a:endParaRPr lang="zh-CN" altLang="en-US" sz="1600"/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/Users/jone-j/科创信达/4-智能硬件/11-智能硬件--内部/养猪大脑-智能环控器K16.png养猪大脑-智能环控器K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6093" y="853758"/>
            <a:ext cx="2678430" cy="2312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65500" y="977900"/>
            <a:ext cx="7632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Intelligent environmental controller k16</a:t>
            </a:r>
            <a:endParaRPr lang="zh-CN" altLang="en-US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3365500" y="1499870"/>
            <a:ext cx="1928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Pig brain</a:t>
            </a:r>
            <a:endParaRPr lang="zh-CN" altLang="en-US" sz="2400" b="1"/>
          </a:p>
        </p:txBody>
      </p:sp>
      <p:pic>
        <p:nvPicPr>
          <p:cNvPr id="16" name="图片 15" descr="资源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20" y="2062480"/>
            <a:ext cx="554355" cy="554355"/>
          </a:xfrm>
          <a:prstGeom prst="rect">
            <a:avLst/>
          </a:prstGeom>
        </p:spPr>
      </p:pic>
      <p:pic>
        <p:nvPicPr>
          <p:cNvPr id="18" name="图片 17" descr="资源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825" y="2061845"/>
            <a:ext cx="605790" cy="554355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3494405" y="1960245"/>
            <a:ext cx="6736080" cy="1092200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资源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645" y="2061845"/>
            <a:ext cx="554355" cy="5543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22900" y="2714625"/>
            <a:ext cx="21107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  <a:sym typeface="+mn-ea"/>
              </a:rPr>
              <a:t>Multisensor fusion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89470" y="2714625"/>
            <a:ext cx="152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  <a:sym typeface="+mn-ea"/>
              </a:rPr>
              <a:t>Fine control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11" name="图片 10" descr="资源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2990" y="2061845"/>
            <a:ext cx="554355" cy="5543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69030" y="2714625"/>
            <a:ext cx="19926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7-inch touch screen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37270" y="2714625"/>
            <a:ext cx="1359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Cloud platform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5775" y="3368675"/>
            <a:ext cx="11214100" cy="2327910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92785" y="3567430"/>
            <a:ext cx="93040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Main technical parameters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/>
              <a:t>Input voltage: ac85-305v, 50 / 60Hz;</a:t>
            </a:r>
            <a:endParaRPr lang="zh-CN" altLang="en-US"/>
          </a:p>
          <a:p>
            <a:r>
              <a:rPr lang="zh-CN" altLang="en-US"/>
              <a:t>Rated power: &lt; 15W</a:t>
            </a:r>
            <a:endParaRPr lang="zh-CN" altLang="en-US"/>
          </a:p>
          <a:p>
            <a:r>
              <a:rPr lang="zh-CN" altLang="en-US"/>
              <a:t>Overall dimension: 350 * 250 * 130mm;</a:t>
            </a:r>
            <a:endParaRPr lang="zh-CN" altLang="en-US"/>
          </a:p>
          <a:p>
            <a:r>
              <a:rPr lang="zh-CN" altLang="en-US"/>
              <a:t>Display accuracy: 0.1C;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0"/>
            <a:ext cx="12192000" cy="6858000"/>
          </a:xfrm>
          <a:prstGeom prst="rect">
            <a:avLst/>
          </a:prstGeom>
        </p:spPr>
      </p:pic>
      <p:pic>
        <p:nvPicPr>
          <p:cNvPr id="5" name="图片 4" descr="/Users/jone-j/Desktop/智能硬件产品--内部/养猪大脑-智能环控器K9.png养猪大脑-智能环控器K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335" y="642620"/>
            <a:ext cx="2766060" cy="2766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42285" y="914400"/>
            <a:ext cx="7626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Intelligent environmental controller k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2285" y="1490345"/>
            <a:ext cx="6786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Pig brain</a:t>
            </a:r>
            <a:r>
              <a:rPr lang="zh-CN" altLang="en-US" sz="1600" b="1"/>
              <a:t>（Equipped with 3.6-inch LCD）</a:t>
            </a:r>
            <a:endParaRPr lang="zh-CN" altLang="en-US" sz="1600" b="1"/>
          </a:p>
        </p:txBody>
      </p:sp>
      <p:pic>
        <p:nvPicPr>
          <p:cNvPr id="18" name="图片 17" descr="资源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785" y="2222500"/>
            <a:ext cx="539750" cy="49403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248025" y="2745740"/>
            <a:ext cx="13582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easy operation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92955" y="2745740"/>
            <a:ext cx="15201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Fully functional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29805" y="2717165"/>
            <a:ext cx="1431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Cloud platform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042285" y="2004060"/>
            <a:ext cx="5907405" cy="113347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113145" y="2745740"/>
            <a:ext cx="13582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Fine control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11" name="图片 10" descr="资源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885" y="2212975"/>
            <a:ext cx="295910" cy="494030"/>
          </a:xfrm>
          <a:prstGeom prst="rect">
            <a:avLst/>
          </a:prstGeom>
        </p:spPr>
      </p:pic>
      <p:pic>
        <p:nvPicPr>
          <p:cNvPr id="12" name="图片 11" descr="资源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0790" y="2222500"/>
            <a:ext cx="494030" cy="494030"/>
          </a:xfrm>
          <a:prstGeom prst="rect">
            <a:avLst/>
          </a:prstGeom>
        </p:spPr>
      </p:pic>
      <p:pic>
        <p:nvPicPr>
          <p:cNvPr id="13" name="图片 12" descr="资源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223135"/>
            <a:ext cx="520065" cy="49403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67690" y="3564890"/>
            <a:ext cx="11091545" cy="220916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1375" y="3705225"/>
            <a:ext cx="96342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Main technical parameters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/>
              <a:t>Input voltage: AC85 ~ 305V, 50 / 60Hz</a:t>
            </a:r>
            <a:endParaRPr lang="zh-CN" altLang="en-US"/>
          </a:p>
          <a:p>
            <a:r>
              <a:rPr lang="zh-CN" altLang="en-US"/>
              <a:t>Rated power: &lt; 10W;</a:t>
            </a:r>
            <a:endParaRPr lang="zh-CN" altLang="en-US"/>
          </a:p>
          <a:p>
            <a:r>
              <a:rPr lang="zh-CN" altLang="en-US"/>
              <a:t>Overall dimension: 250 * 350 * 130mm</a:t>
            </a:r>
            <a:endParaRPr lang="zh-CN" altLang="en-US"/>
          </a:p>
          <a:p>
            <a:r>
              <a:rPr lang="zh-CN" altLang="en-US"/>
              <a:t>Display accuracy: 01 ° C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/Users/jone-j/科创信达/4-智能硬件/11-智能硬件--内部/楼房大脑-智能环控器 BC-M1.png楼房大脑-智能环控器 BC-M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6093" y="853758"/>
            <a:ext cx="2678430" cy="2312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63925" y="914400"/>
            <a:ext cx="7859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Intelligent environmental controller </a:t>
            </a:r>
            <a:r>
              <a:rPr lang="en-US" altLang="zh-CN" sz="2800" b="1"/>
              <a:t>BC-M</a:t>
            </a:r>
            <a:r>
              <a:rPr lang="zh-CN" altLang="en-US" sz="2800" b="1"/>
              <a:t>1</a:t>
            </a:r>
            <a:endParaRPr lang="zh-CN" altLang="en-US" sz="2800" b="1"/>
          </a:p>
        </p:txBody>
      </p:sp>
      <p:sp>
        <p:nvSpPr>
          <p:cNvPr id="8" name="文本框 7"/>
          <p:cNvSpPr txBox="1"/>
          <p:nvPr/>
        </p:nvSpPr>
        <p:spPr>
          <a:xfrm>
            <a:off x="3463925" y="1436370"/>
            <a:ext cx="293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Building brain</a:t>
            </a:r>
            <a:endParaRPr lang="zh-CN" altLang="en-US" sz="2400" b="1"/>
          </a:p>
        </p:txBody>
      </p:sp>
      <p:pic>
        <p:nvPicPr>
          <p:cNvPr id="16" name="图片 15" descr="资源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0" y="2072640"/>
            <a:ext cx="434975" cy="434975"/>
          </a:xfrm>
          <a:prstGeom prst="rect">
            <a:avLst/>
          </a:prstGeom>
        </p:spPr>
      </p:pic>
      <p:pic>
        <p:nvPicPr>
          <p:cNvPr id="18" name="图片 17" descr="资源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835" y="2072640"/>
            <a:ext cx="475615" cy="4356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389880" y="2664460"/>
            <a:ext cx="16573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Flexible parameter setting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272270" y="2683510"/>
            <a:ext cx="14401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Cloud platform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4090" y="1896745"/>
            <a:ext cx="7211695" cy="127317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22185" y="2683510"/>
            <a:ext cx="2117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Modeless adaptive algorithm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10" name="图片 9" descr="资源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365" y="2072640"/>
            <a:ext cx="409575" cy="435610"/>
          </a:xfrm>
          <a:prstGeom prst="rect">
            <a:avLst/>
          </a:prstGeom>
        </p:spPr>
      </p:pic>
      <p:pic>
        <p:nvPicPr>
          <p:cNvPr id="11" name="图片 10" descr="资源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080" y="2063115"/>
            <a:ext cx="453390" cy="4349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514090" y="2683510"/>
            <a:ext cx="19926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7-inch touch screen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7690" y="3564890"/>
            <a:ext cx="11091545" cy="220916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640" y="3695065"/>
            <a:ext cx="102876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Main technical parameters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/>
              <a:t>Input voltage: AC85 ~ 305V,</a:t>
            </a:r>
            <a:r>
              <a:rPr lang="zh-CN" altLang="en-US">
                <a:sym typeface="+mn-ea"/>
              </a:rPr>
              <a:t>50 / 60Hz</a:t>
            </a:r>
            <a:endParaRPr lang="zh-CN" altLang="en-US">
              <a:sym typeface="+mn-ea"/>
            </a:endParaRPr>
          </a:p>
          <a:p>
            <a:r>
              <a:rPr lang="en-US" altLang="zh-CN"/>
              <a:t>R</a:t>
            </a:r>
            <a:r>
              <a:rPr lang="zh-CN" altLang="en-US"/>
              <a:t>ated power: &lt; 15W</a:t>
            </a:r>
            <a:endParaRPr lang="zh-CN" altLang="en-US"/>
          </a:p>
          <a:p>
            <a:r>
              <a:rPr lang="zh-CN" altLang="en-US"/>
              <a:t>Overall dimension: 350 * 250 * 130mm</a:t>
            </a:r>
            <a:endParaRPr lang="zh-CN" altLang="en-US"/>
          </a:p>
          <a:p>
            <a:r>
              <a:rPr lang="zh-CN" altLang="en-US"/>
              <a:t>Display accuracy: 01 ° C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/Users/jone-j/科创信达/4-智能硬件/11-智能硬件--内部/楼房大脑-智能环控器 BC-M1.png楼房大脑-智能环控器 BC-M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7523" y="856298"/>
            <a:ext cx="2678430" cy="23126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63925" y="914400"/>
            <a:ext cx="7859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Intelligent environmental controller </a:t>
            </a:r>
            <a:r>
              <a:rPr lang="en-US" altLang="zh-CN" sz="2800" b="1"/>
              <a:t>BC-S</a:t>
            </a:r>
            <a:r>
              <a:rPr lang="zh-CN" altLang="en-US" sz="2800" b="1"/>
              <a:t>1</a:t>
            </a:r>
            <a:endParaRPr lang="zh-CN" altLang="en-US" sz="2800" b="1"/>
          </a:p>
        </p:txBody>
      </p:sp>
      <p:sp>
        <p:nvSpPr>
          <p:cNvPr id="8" name="文本框 7"/>
          <p:cNvSpPr txBox="1"/>
          <p:nvPr/>
        </p:nvSpPr>
        <p:spPr>
          <a:xfrm>
            <a:off x="3463925" y="1436370"/>
            <a:ext cx="29387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Building brain</a:t>
            </a:r>
            <a:endParaRPr lang="zh-CN" altLang="en-US" sz="2400" b="1"/>
          </a:p>
        </p:txBody>
      </p:sp>
      <p:sp>
        <p:nvSpPr>
          <p:cNvPr id="14" name="矩形 13"/>
          <p:cNvSpPr/>
          <p:nvPr/>
        </p:nvSpPr>
        <p:spPr>
          <a:xfrm>
            <a:off x="567690" y="3564890"/>
            <a:ext cx="11091545" cy="220916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640" y="3695065"/>
            <a:ext cx="102876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Main technical parameters</a:t>
            </a:r>
            <a:endParaRPr lang="zh-CN" altLang="en-US" sz="2400" b="1"/>
          </a:p>
          <a:p>
            <a:endParaRPr lang="zh-CN" altLang="en-US" sz="2400" b="1"/>
          </a:p>
          <a:p>
            <a:r>
              <a:rPr lang="zh-CN" altLang="en-US"/>
              <a:t>Input voltage: AC85 ~ 305V,</a:t>
            </a:r>
            <a:r>
              <a:rPr lang="zh-CN" altLang="en-US">
                <a:sym typeface="+mn-ea"/>
              </a:rPr>
              <a:t>50 / 60Hz</a:t>
            </a:r>
            <a:endParaRPr lang="zh-CN" altLang="en-US">
              <a:sym typeface="+mn-ea"/>
            </a:endParaRPr>
          </a:p>
          <a:p>
            <a:r>
              <a:rPr lang="en-US" altLang="zh-CN"/>
              <a:t>R</a:t>
            </a:r>
            <a:r>
              <a:rPr lang="zh-CN" altLang="en-US"/>
              <a:t>ated power: &lt; 15W</a:t>
            </a:r>
            <a:endParaRPr lang="zh-CN" altLang="en-US"/>
          </a:p>
          <a:p>
            <a:r>
              <a:rPr lang="zh-CN" altLang="en-US"/>
              <a:t>Overall dimension: 350 * 250 * 130mm</a:t>
            </a:r>
            <a:endParaRPr lang="zh-CN" altLang="en-US"/>
          </a:p>
          <a:p>
            <a:r>
              <a:rPr lang="zh-CN" altLang="en-US"/>
              <a:t>Display accuracy: 01 ° C</a:t>
            </a:r>
            <a:endParaRPr lang="zh-CN" altLang="en-US"/>
          </a:p>
        </p:txBody>
      </p:sp>
      <p:pic>
        <p:nvPicPr>
          <p:cNvPr id="7" name="图片 6" descr="资源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20" y="2150110"/>
            <a:ext cx="508635" cy="485140"/>
          </a:xfrm>
          <a:prstGeom prst="rect">
            <a:avLst/>
          </a:prstGeom>
        </p:spPr>
      </p:pic>
      <p:pic>
        <p:nvPicPr>
          <p:cNvPr id="15" name="图片 14" descr="资源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230" y="2149475"/>
            <a:ext cx="556260" cy="48577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829685" y="2708910"/>
            <a:ext cx="1548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7-inch touch screen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05875" y="2708910"/>
            <a:ext cx="16808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Cloud platform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63925" y="1949450"/>
            <a:ext cx="7232015" cy="1219835"/>
          </a:xfrm>
          <a:prstGeom prst="rect">
            <a:avLst/>
          </a:prstGeom>
          <a:noFill/>
          <a:ln w="15875" cmpd="sng">
            <a:solidFill>
              <a:srgbClr val="0D61A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资源 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290" y="2029460"/>
            <a:ext cx="508635" cy="4851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5494020" y="2708910"/>
            <a:ext cx="1938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Multisensor combination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25665" y="2708910"/>
            <a:ext cx="13995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Source Han Sans CN" panose="020B0A00000000000000" charset="-122"/>
                <a:ea typeface="Source Han Sans CN" panose="020B0A00000000000000" charset="-122"/>
                <a:cs typeface="Source Han Sans CN" panose="020B0A00000000000000" charset="-122"/>
              </a:rPr>
              <a:t>Fine control</a:t>
            </a:r>
            <a:endParaRPr lang="zh-CN" altLang="en-US" sz="1200">
              <a:latin typeface="Source Han Sans CN" panose="020B0A00000000000000" charset="-122"/>
              <a:ea typeface="Source Han Sans CN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27" name="图片 26" descr="资源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260" y="2150110"/>
            <a:ext cx="508635" cy="485140"/>
          </a:xfrm>
          <a:prstGeom prst="rect">
            <a:avLst/>
          </a:prstGeom>
        </p:spPr>
      </p:pic>
      <p:pic>
        <p:nvPicPr>
          <p:cNvPr id="28" name="图片 27" descr="/Users/jone-j/科创信达/4-智能硬件/11-智能硬件--内部/楼房大脑-智能环控器BC-S1.png楼房大脑-智能环控器BC-S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86728" y="853758"/>
            <a:ext cx="2677160" cy="231267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工作汇总_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080"/>
            <a:ext cx="12192000" cy="6858000"/>
          </a:xfrm>
          <a:prstGeom prst="rect">
            <a:avLst/>
          </a:prstGeom>
        </p:spPr>
      </p:pic>
      <p:pic>
        <p:nvPicPr>
          <p:cNvPr id="5" name="图片 4" descr="/Users/jone-j/Desktop/智能硬件产品--内部/传感器-湿度-1.png传感器-湿度-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4020" y="3276600"/>
            <a:ext cx="1637665" cy="1203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34645" y="805815"/>
            <a:ext cx="13874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8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sensor</a:t>
            </a:r>
            <a:endParaRPr lang="zh-CN" altLang="en-US" sz="28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8295" y="1202690"/>
            <a:ext cx="11496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1400" b="1" i="1"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T</a:t>
            </a:r>
            <a:r>
              <a:rPr sz="1400" b="1" i="1"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</a:rPr>
              <a:t>emperature kcntc-1m, humidity kctht-102, CO2 kccot-103, humidity &amp; CO2 two in one kchcot-110,NH3 kcnht-104, static pressure kcpt-106</a:t>
            </a:r>
            <a:endParaRPr sz="1400" b="1" i="1"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67255" y="1779270"/>
            <a:ext cx="22485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dist"/>
            <a:r>
              <a:rPr lang="en-US" sz="1400" b="1" i="1">
                <a:solidFill>
                  <a:srgbClr val="0070C0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T</a:t>
            </a:r>
            <a:r>
              <a:rPr sz="1400" b="1" i="1">
                <a:solidFill>
                  <a:srgbClr val="0070C0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emperature kcntc-1m</a:t>
            </a:r>
            <a:endParaRPr lang="zh-CN" altLang="en-US" sz="1400" b="1" i="1">
              <a:solidFill>
                <a:srgbClr val="0070C0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pic>
        <p:nvPicPr>
          <p:cNvPr id="8" name="图片 7" descr="传感器-温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1793240"/>
            <a:ext cx="1363980" cy="1240155"/>
          </a:xfrm>
          <a:prstGeom prst="rect">
            <a:avLst/>
          </a:prstGeom>
        </p:spPr>
      </p:pic>
      <p:pic>
        <p:nvPicPr>
          <p:cNvPr id="11" name="图片 10" descr="/Users/jone-j/Desktop/智能硬件产品--内部/传感器-CO2-1.png传感器-CO2-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4655" y="4697730"/>
            <a:ext cx="1636395" cy="12033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167255" y="2131695"/>
            <a:ext cx="25965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" panose="020B0A00000000000000" charset="-122"/>
              </a:rPr>
              <a:t>Hardware configuration: two wire thermistor;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" panose="020B0A00000000000000" charset="-122"/>
              </a:rPr>
              <a:t>Functional features: high precision imported sensor, good consistency;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" panose="020B0A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68190" y="2112010"/>
            <a:ext cx="1527810" cy="783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" panose="020B0A00000000000000" charset="-122"/>
              </a:rPr>
              <a:t>system parameter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" panose="020B0A00000000000000" charset="-122"/>
              </a:rPr>
              <a:t>Range: - 40 ℃ - 80 ℃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" panose="020B0A00000000000000" charset="-122"/>
              </a:rPr>
              <a:t>Accuracy: 0.2 ℃</a:t>
            </a:r>
            <a:endParaRPr lang="zh-CN" altLang="en-US" sz="10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" panose="020B0A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14245" y="3176270"/>
            <a:ext cx="196278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dist"/>
            <a:r>
              <a:rPr sz="14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humidity kctht-102 </a:t>
            </a:r>
            <a:endParaRPr lang="zh-CN" altLang="en-US" sz="14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99005" y="3404870"/>
            <a:ext cx="199390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hardware configuration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Channel] 4 ~ 20mA output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circuit] 12V DC power supply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85590" y="3415030"/>
            <a:ext cx="23399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system parameter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Range: 0-100% ℃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Accuracy: ± 1.5% ℃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Functional features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Swiss imported chips, high precision and high stability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274320" y="1761490"/>
            <a:ext cx="11583670" cy="635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334645" y="5981065"/>
            <a:ext cx="11523345" cy="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334645" y="3145790"/>
            <a:ext cx="11523345" cy="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334645" y="4610100"/>
            <a:ext cx="11523345" cy="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096000" y="1854200"/>
            <a:ext cx="0" cy="4133215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2067243" y="4641850"/>
            <a:ext cx="148844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dist"/>
            <a:r>
              <a:rPr sz="14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 CO2 kccot-103</a:t>
            </a:r>
            <a:endParaRPr lang="zh-CN" altLang="en-US" sz="14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67255" y="4872990"/>
            <a:ext cx="20256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hardware configuration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Channel] 4 ~ 20mA output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circuit] 12V DC power supply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084955" y="4641850"/>
            <a:ext cx="21005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System parameters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Range: 0-5000ppm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Accuracy: 3%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Functional features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Swiss imported modules, high precision and high stability;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34" name="图片 33" descr="/Users/jone-j/Desktop/智能硬件产品--内部/传感器-NH3-1.png传感器-NH3-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86170" y="3319145"/>
            <a:ext cx="1636395" cy="12033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863840" y="3270885"/>
            <a:ext cx="151447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dist"/>
            <a:r>
              <a:rPr sz="14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NH3 kcnht-104</a:t>
            </a:r>
            <a:endParaRPr lang="zh-CN" altLang="en-US" sz="14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823200" y="3563620"/>
            <a:ext cx="21291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hardware configuration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Channel] 4 ~ 20mA output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circuit] 12V DC power supply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737090" y="3379470"/>
            <a:ext cx="2437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system parameter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Range: 0-100ppm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Accuracy: 3%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Functional features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High precision imported sensor, good consistency;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39" name="图片 38" descr="/Users/jone-j/Desktop/智能硬件产品--内部/传感器-湿度&amp;CO2-1.png传感器-湿度&amp;CO2-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186170" y="1948180"/>
            <a:ext cx="1636395" cy="120332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7776210" y="1802130"/>
            <a:ext cx="36106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14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humidity &amp; CO2 two in one kchcot-110</a:t>
            </a:r>
            <a:endParaRPr lang="zh-CN" altLang="en-US" sz="14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842250" y="2044700"/>
            <a:ext cx="21062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hardware configuration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Channel] 4 ~ 20mA output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circuit] 12V DC power supply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737090" y="1952625"/>
            <a:ext cx="24549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System parameters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Range: 0-100%, 0-5000ppm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Accuracy: 1.5%, 3%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Functional features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Swiss imported modules, high precision and high stability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pic>
        <p:nvPicPr>
          <p:cNvPr id="43" name="图片 42" descr="/Users/jone-j/Desktop/智能硬件产品--内部/传感器-静压-1.png传感器-静压-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86170" y="4695825"/>
            <a:ext cx="1636395" cy="1203325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7842250" y="4641850"/>
            <a:ext cx="23406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1400" b="1" i="1">
                <a:solidFill>
                  <a:srgbClr val="0D62A9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 Bold" panose="020B0A00000000000000" charset="-122"/>
                <a:sym typeface="+mn-ea"/>
              </a:rPr>
              <a:t>static pressure kcpt-106</a:t>
            </a:r>
            <a:endParaRPr lang="zh-CN" altLang="en-US" sz="1400" b="1" i="1">
              <a:solidFill>
                <a:srgbClr val="0D62A9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 Bold" panose="020B0A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823200" y="4940300"/>
            <a:ext cx="20535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hardware configuration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Channel] 4 ~ 20mA output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[1 circuit] 12V DC power supply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737090" y="4832985"/>
            <a:ext cx="24403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system parameter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Range: - 100 ~ 100Pa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Accuracy: 3%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Functional features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000" b="1">
                <a:solidFill>
                  <a:schemeClr val="tx1"/>
                </a:solidFill>
                <a:latin typeface="Source Han Sans CN Bold" panose="020B0A00000000000000" charset="-122"/>
                <a:ea typeface="Source Han Sans CN Bold" panose="020B0A00000000000000" charset="-122"/>
                <a:cs typeface="Source Han Sans CN" panose="020B0A00000000000000" charset="-122"/>
              </a:rPr>
              <a:t>Swiss imported modules, high precision and high stability;</a:t>
            </a:r>
            <a:endParaRPr lang="zh-CN" altLang="en-US" sz="1000" b="1">
              <a:solidFill>
                <a:schemeClr val="tx1"/>
              </a:solidFill>
              <a:latin typeface="Source Han Sans CN Bold" panose="020B0A00000000000000" charset="-122"/>
              <a:ea typeface="Source Han Sans CN Bold" panose="020B0A00000000000000" charset="-122"/>
              <a:cs typeface="Source Han Sans CN" panose="020B0A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3393</Words>
  <Application>WPS 演示</Application>
  <PresentationFormat>宽屏</PresentationFormat>
  <Paragraphs>192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Source Han Sans CN</vt:lpstr>
      <vt:lpstr>Source Han Sans CN Bold</vt:lpstr>
      <vt:lpstr>Arial Unicode MS</vt:lpstr>
      <vt:lpstr>Calibri</vt:lpstr>
      <vt:lpstr>Office 主题​​</vt:lpstr>
      <vt:lpstr>空白演示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安妮</cp:lastModifiedBy>
  <cp:revision>174</cp:revision>
  <dcterms:created xsi:type="dcterms:W3CDTF">2019-06-19T02:08:00Z</dcterms:created>
  <dcterms:modified xsi:type="dcterms:W3CDTF">2022-03-12T05:14:11Z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2F124A7D35ED46729C2DB203BDC16181</vt:lpwstr>
  </property>
</Properties>
</file>